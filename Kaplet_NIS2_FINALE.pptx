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7" r:id="rId13"/>
    <p:sldId id="269" r:id="rId14"/>
    <p:sldId id="26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34"/>
    <p:restoredTop sz="94610"/>
  </p:normalViewPr>
  <p:slideViewPr>
    <p:cSldViewPr snapToGrid="0" snapToObjects="1">
      <p:cViewPr varScale="1">
        <p:scale>
          <a:sx n="246" d="100"/>
          <a:sy n="246" d="100"/>
        </p:scale>
        <p:origin x="34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25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190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5143500"/>
            <a:ext cx="9144000" cy="0"/>
          </a:xfrm>
          <a:prstGeom prst="line">
            <a:avLst/>
          </a:prstGeom>
          <a:noFill/>
          <a:ln w="190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2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3DED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Security.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621792" y="34015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</a:rPr>
              <a:t>Networking · Security · Audio Video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D.Lgs. 138/2024 – Direttiva (UE) 2022/2555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0" y="4480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DED7A"/>
                </a:solidFill>
              </a:rPr>
              <a:t>·KAPLET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4846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3333"/>
                </a:solidFill>
              </a:rPr>
              <a:t>Cesena – Milano · kaplet.it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3DED7A"/>
                </a:solidFill>
              </a:rPr>
              <a:t>_il contesto normativo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Perché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2 ora?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240280"/>
            <a:ext cx="4023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Il D.Lgs. 138/2024, in vigore dal 16 ottobre 2024, recepisce la Direttiva (UE) 2022/2555 e impone obblighi concreti di cybersecurity a oltre 80 tipologie di soggetti in 18 settori.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Dal 1° gennaio 2026 scatta l'obbligo operativo: notifica al CSIRT Italia entro 24 ore da ogni incidente significativo. Chi non si è adeguato è già fuori tempo.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737360"/>
            <a:ext cx="0" cy="310896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846320" y="749808"/>
            <a:ext cx="39319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846320" y="813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ED7A"/>
                </a:solidFill>
              </a:rPr>
              <a:t>16 OTT 2024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0" y="1097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D.Lgs. 138/2024 in vigore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46320" y="14081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Recepimento italiano – ACN Autorità competente NIS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801368"/>
            <a:ext cx="39319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846320" y="1865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ED7A"/>
                </a:solidFill>
              </a:rPr>
              <a:t>APR 2025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2148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Misure base ACN pubblicate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46320" y="24597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Det. 164179/2025 – 37 misure (imp.) / 43 (ess.)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852928"/>
            <a:ext cx="39319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846320" y="2916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ED7A"/>
                </a:solidFill>
              </a:rPr>
              <a:t>1 GEN 2026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3200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Notifica incidenti operativa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46320" y="3511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Pre-notifica CSIRT entro 24h · Report entro 72h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3904488"/>
            <a:ext cx="39319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846320" y="39684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ED7A"/>
                </a:solidFill>
              </a:rPr>
              <a:t>OTT 2026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4251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Piena conformità richiesta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46320" y="45628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Tutti gli obblighi tecnici Art. 24 devono essere attivi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91947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406640" y="49560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·KAPLET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49640" y="4956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778240" y="4974336"/>
            <a:ext cx="201168" cy="0"/>
          </a:xfrm>
          <a:prstGeom prst="line">
            <a:avLst/>
          </a:prstGeom>
          <a:noFill/>
          <a:ln w="190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3DED7A"/>
                </a:solidFill>
              </a:rPr>
              <a:t>_soggetti e sanzioni – D.Lgs. 138/2024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Chi deve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adeguarsi?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40690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3DED7A"/>
                </a:solidFill>
              </a:rPr>
              <a:t>_soggetti essenziali – Allegato 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212848"/>
            <a:ext cx="3931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Energia (elettricità, gas, idrogeno, petrolio)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Trasporti (aereo, ferroviario, marittimo, stradale)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Banche e infrastrutture mercati finanziari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Sanità (ospedali, laboratori, farmaceutica)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Acqua potabile e acque reflue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Infrastrutture digitali (datacenter, cloud, IXP, DNS)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Gestione servizi ICT B2B (MSP / MSSP)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PA Centrale e Spazio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47365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ED7A"/>
                </a:solidFill>
              </a:rPr>
              <a:t>Fino a 10M€ o 2% fatturato globale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0" cy="301752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41148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663440" y="19202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8888"/>
                </a:solidFill>
              </a:rPr>
              <a:t>_soggetti importanti – Allegato II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2212848"/>
            <a:ext cx="3931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Servizi postali e di corriere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Gestione rifiuti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Produzione chimica e alimentare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Fabbricazione: medicale, elettronica, auto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Fornitori servizi digitali (marketplace, social)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Ricerca e università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PA Locale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47365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Fino a 7M€ o 1,4% fatturato globale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491947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406640" y="49560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·KAPLET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49640" y="4956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778240" y="4974336"/>
            <a:ext cx="201168" cy="0"/>
          </a:xfrm>
          <a:prstGeom prst="line">
            <a:avLst/>
          </a:prstGeom>
          <a:noFill/>
          <a:ln w="190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3DED7A"/>
                </a:solidFill>
              </a:rPr>
              <a:t>_10 ambiti obbligatori – Art. 24 D.Lgs. 138/2024 · Det. ACN 164179/2025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misure minime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 sicurezza informatica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719072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" y="1783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Analisi dei rischi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" y="20574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Policy di risk assessment e sicurezza sistemi informativi e di rete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719072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754880" y="178308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57216" y="1783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Gestione incidenti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57216" y="20574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Procedure, notifica CSIRT entro 24h, report entro 72h (dal 1/1/2026)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359152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65760" y="242316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" y="2423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Continuità operativa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" y="26974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Backup, disaster recovery, gestione crisi e ripristino documentato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359152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754880" y="242316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57216" y="2423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Sicurezza supply chain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57216" y="26974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Valutazione vulnerabilità e pratiche di sicurezza dei fornitori diretti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999232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65760" y="30632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8096" y="3063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Sicurezza sviluppo/acquisto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8096" y="33375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Sicurezza nell'acquisizione, sviluppo e manutenzione dei sistemi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999232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754880" y="30632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57216" y="3063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Vulnerability management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57216" y="33375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Gestione e divulgazione vulnerabilità, efficacia delle misure adottate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639312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365760" y="370332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07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8096" y="3703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Igiene informatica e formazione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" y="39776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Pratiche di cyber hygiene, formazione continua di tutto il personale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639312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754880" y="370332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08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57216" y="3703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Crittografia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57216" y="39776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Uso appropriato di crittografia ed encryption end-to-end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279392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365760" y="434340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09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8096" y="4343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Sicurezza risorse umane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8096" y="46177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Controllo accessi, gestione asset, onboarding/offboarding sicuro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4279392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4754880" y="434340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57216" y="4343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Autenticazione multifattore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57216" y="46177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MFA su tutti i sistemi critici; comunicazioni sicure e cifrate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491947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7406640" y="49560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·KAPLET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549640" y="4956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778240" y="4974336"/>
            <a:ext cx="201168" cy="0"/>
          </a:xfrm>
          <a:prstGeom prst="line">
            <a:avLst/>
          </a:prstGeom>
          <a:noFill/>
          <a:ln w="190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3DED7A"/>
                </a:solidFill>
              </a:rPr>
              <a:t>_verticale 01 / networking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Networking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Firewall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40690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3DED7A"/>
                </a:solidFill>
              </a:rPr>
              <a:t>_cosa richiede NIS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121408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NGFW con IPS/IDS attivo e aggiornato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Segmentazione VLAN: VMS, ACS, AV, IoT, dati separati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VPN con MFA obbligatoria per tutti gli accessi remoti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Inventario asset aggiornato (switch, AP, firewall, device)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Log centralizzati con retention minima 12 mesi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NAC per autenticazione e autorizzazione device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Patch cycle documentato: switch, AP, firewall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737360"/>
            <a:ext cx="0" cy="310896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663440" y="1783080"/>
            <a:ext cx="41148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8888"/>
                </a:solidFill>
              </a:rPr>
              <a:t>_rischi senza adeguamento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2121408"/>
            <a:ext cx="0" cy="402336"/>
          </a:xfrm>
          <a:prstGeom prst="line">
            <a:avLst/>
          </a:prstGeom>
          <a:noFill/>
          <a:ln w="3175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800600" y="21396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Rete piatta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395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Telecamera o player signage compromessi → accesso diretto ai server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834640"/>
            <a:ext cx="0" cy="402336"/>
          </a:xfrm>
          <a:prstGeom prst="line">
            <a:avLst/>
          </a:prstGeom>
          <a:noFill/>
          <a:ln w="3175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800600" y="28529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RDP esposto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1089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Porta 3389 aperta = ingresso ransomware. Basta un bot automatizzato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547872"/>
            <a:ext cx="0" cy="402336"/>
          </a:xfrm>
          <a:prstGeom prst="line">
            <a:avLst/>
          </a:prstGeom>
          <a:noFill/>
          <a:ln w="3175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800600" y="35661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VPN senza MFA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8221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Credenziali rubate via phishing → accesso completo alla rete interna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4261104"/>
            <a:ext cx="0" cy="402336"/>
          </a:xfrm>
          <a:prstGeom prst="line">
            <a:avLst/>
          </a:prstGeom>
          <a:noFill/>
          <a:ln w="3175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800600" y="4279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 assenti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45354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Impossibile notificare CSIRT entro 24h. Sanzioni immediate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91947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406640" y="49560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·KAPLET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49640" y="4956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778240" y="4974336"/>
            <a:ext cx="201168" cy="0"/>
          </a:xfrm>
          <a:prstGeom prst="line">
            <a:avLst/>
          </a:prstGeom>
          <a:noFill/>
          <a:ln w="190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3DED7A"/>
                </a:solidFill>
              </a:rPr>
              <a:t>_verticale 02 / security — videosorveglianza &amp; VMS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Telecamere IP, Encoder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sistemi VMS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1261872" cy="0"/>
          </a:xfrm>
          <a:prstGeom prst="line">
            <a:avLst/>
          </a:prstGeom>
          <a:noFill/>
          <a:ln w="63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Axis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1783080"/>
            <a:ext cx="1261872" cy="0"/>
          </a:xfrm>
          <a:prstGeom prst="line">
            <a:avLst/>
          </a:prstGeom>
          <a:noFill/>
          <a:ln w="63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783080" y="182880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Avigilon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783080"/>
            <a:ext cx="1261872" cy="0"/>
          </a:xfrm>
          <a:prstGeom prst="line">
            <a:avLst/>
          </a:prstGeom>
          <a:noFill/>
          <a:ln w="63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200400" y="182880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Bosch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783080"/>
            <a:ext cx="1261872" cy="0"/>
          </a:xfrm>
          <a:prstGeom prst="line">
            <a:avLst/>
          </a:prstGeom>
          <a:noFill/>
          <a:ln w="63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617720" y="182880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Pelco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783080"/>
            <a:ext cx="1261872" cy="0"/>
          </a:xfrm>
          <a:prstGeom prst="line">
            <a:avLst/>
          </a:prstGeom>
          <a:noFill/>
          <a:ln w="63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035040" y="182880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Milestone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365760" y="2295144"/>
            <a:ext cx="0" cy="502920"/>
          </a:xfrm>
          <a:prstGeom prst="line">
            <a:avLst/>
          </a:prstGeom>
          <a:noFill/>
          <a:ln w="3175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30352" y="22951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4444"/>
                </a:solidFill>
              </a:rPr>
              <a:t>CRITICO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0352" y="24963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Credenziali default attive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0352" y="27523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admin/admin su NVR, telecamere, encoder. Shodan li trova ogni ora. Gap #1 da correggere.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240280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4754880" y="2295144"/>
            <a:ext cx="0" cy="502920"/>
          </a:xfrm>
          <a:prstGeom prst="line">
            <a:avLst/>
          </a:prstGeom>
          <a:noFill/>
          <a:ln w="3175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919472" y="22951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4444"/>
                </a:solidFill>
              </a:rPr>
              <a:t>CRITICO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919472" y="24963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Firmware non aggiornato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19472" y="27523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CVE su IP cam pubbliche su NVD. Firmware = backdoor documentata se non aggiornato.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063240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365760" y="3118104"/>
            <a:ext cx="0" cy="502920"/>
          </a:xfrm>
          <a:prstGeom prst="line">
            <a:avLst/>
          </a:prstGeom>
          <a:noFill/>
          <a:ln w="3175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530352" y="31181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4444"/>
                </a:solidFill>
              </a:rPr>
              <a:t>CRITICO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30352" y="33192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VMS esposto su internet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0352" y="35753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Port forwarding senza VPN: il VMS è scansionato 24/7 da bot automatizzati.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063240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4754880" y="3118104"/>
            <a:ext cx="0" cy="502920"/>
          </a:xfrm>
          <a:prstGeom prst="line">
            <a:avLst/>
          </a:prstGeom>
          <a:noFill/>
          <a:ln w="317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919472" y="31181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D166"/>
                </a:solidFill>
              </a:rPr>
              <a:t>ALTO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19472" y="33192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Rete non segmentata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19472" y="35753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Telecamere sulla stessa LAN dei PC: pivot attack immediato e silenzioso.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886200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365760" y="3941064"/>
            <a:ext cx="0" cy="502920"/>
          </a:xfrm>
          <a:prstGeom prst="line">
            <a:avLst/>
          </a:prstGeom>
          <a:noFill/>
          <a:ln w="317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530352" y="39410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D166"/>
                </a:solidFill>
              </a:rPr>
              <a:t>ALTO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30352" y="41422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Accesso tecnici non tracciato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30352" y="43982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Manutentori accedono senza audit trail né MFA. Art. 24: supply chain obbligatorio.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886200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41"/>
          <p:cNvSpPr/>
          <p:nvPr/>
        </p:nvSpPr>
        <p:spPr>
          <a:xfrm>
            <a:off x="4754880" y="3941064"/>
            <a:ext cx="0" cy="502920"/>
          </a:xfrm>
          <a:prstGeom prst="line">
            <a:avLst/>
          </a:prstGeom>
          <a:noFill/>
          <a:ln w="317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4919472" y="39410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88888"/>
                </a:solidFill>
              </a:rPr>
              <a:t>MEDIO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919472" y="41422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Log VMS assenti o brevi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919472" y="43982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Retention &lt; 12 mesi: analisi forense impossibile. Notifica CSIRT a rischio.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491947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7406640" y="49560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·KAPLET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549640" y="4956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6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778240" y="4974336"/>
            <a:ext cx="201168" cy="0"/>
          </a:xfrm>
          <a:prstGeom prst="line">
            <a:avLst/>
          </a:prstGeom>
          <a:noFill/>
          <a:ln w="190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3DED7A"/>
                </a:solidFill>
              </a:rPr>
              <a:t>_verticale 02 / security — controllo accessi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Sistemi di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controllo accessi (ACS)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40690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FD166"/>
                </a:solidFill>
              </a:rPr>
              <a:t>_cosa richiede NIS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121408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Policy di offboarding: badge revocati il giorno di uscita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Account nominali con MFA sul software ACS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Firmware centraline e lettori aggiornato e monitorato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Accesso remoto ACS solo tramite VPN, mai direttamente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Log eventi ACS conservati 12+ mesi e centralizzati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Integrazione ACS ↔ VMS per correlazione eventi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Valutazione sicurezza del fornitore ACS (supply chain)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737360"/>
            <a:ext cx="0" cy="310896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663440" y="1783080"/>
            <a:ext cx="41148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8888"/>
                </a:solidFill>
              </a:rPr>
              <a:t>_gap più frequenti sul campo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2121408"/>
            <a:ext cx="0" cy="402336"/>
          </a:xfrm>
          <a:prstGeom prst="line">
            <a:avLst/>
          </a:prstGeom>
          <a:noFill/>
          <a:ln w="317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800600" y="21396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Badge mai revocati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395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Ex dipendenti e fornitori hanno ancora accesso fisico agli edifici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834640"/>
            <a:ext cx="0" cy="402336"/>
          </a:xfrm>
          <a:prstGeom prst="line">
            <a:avLst/>
          </a:prstGeom>
          <a:noFill/>
          <a:ln w="317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800600" y="28529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Credenziali default ACS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1089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Interfaccia web centralina con admin/password: accesso completo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547872"/>
            <a:ext cx="0" cy="402336"/>
          </a:xfrm>
          <a:prstGeom prst="line">
            <a:avLst/>
          </a:prstGeom>
          <a:noFill/>
          <a:ln w="317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800600" y="35661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ACS esposto su internet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8221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Compromissione = apertura varchi + disabilitazione allarmi da remoto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4261104"/>
            <a:ext cx="0" cy="402336"/>
          </a:xfrm>
          <a:prstGeom prst="line">
            <a:avLst/>
          </a:prstGeom>
          <a:noFill/>
          <a:ln w="317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800600" y="4279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Nessuna integrazione VMS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45354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Impossibile correlare badge + video in caso di incidente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91947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406640" y="49560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·KAPLET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49640" y="4956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778240" y="4974336"/>
            <a:ext cx="201168" cy="0"/>
          </a:xfrm>
          <a:prstGeom prst="line">
            <a:avLst/>
          </a:prstGeom>
          <a:noFill/>
          <a:ln w="190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3DED7A"/>
                </a:solidFill>
              </a:rPr>
              <a:t>_verticale 03 / audio video &amp; unified communication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AV, Videoconferenza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Sale riunioni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265176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9293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06D6A0"/>
                </a:solidFill>
              </a:rPr>
              <a:t>_AV over 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1854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VLAN AV dedicata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4963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Encoder/decoder in rete separata. ACL restrittivi verso rete dati.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874520"/>
            <a:ext cx="265176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200400" y="19293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06D6A0"/>
                </a:solidFill>
              </a:rPr>
              <a:t>_digital signage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0" y="21854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Firmware player e CMS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4963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Player non aggiornati = vettore di attacco. Credenziali default cambiate.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874520"/>
            <a:ext cx="265176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035040" y="19293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06D6A0"/>
                </a:solidFill>
              </a:rPr>
              <a:t>_videoconferenza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21854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Codec VC sicuri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24963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Cisco, Poly, Neat, Logitech: patch aggiornate, cifratura E2E verificata.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265176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65760" y="339242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06D6A0"/>
                </a:solidFill>
              </a:rPr>
              <a:t>_controllo sala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6484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Controller Crestron/AMX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95935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Accesso admin protetto, non esposto su internet, log abilitati.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337560"/>
            <a:ext cx="265176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200400" y="339242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06D6A0"/>
                </a:solidFill>
              </a:rPr>
              <a:t>_Teams/Zoom Room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36484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MFA e gestione account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395935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Account nominali, MFA attiva, dispositivi gestiti da MDM aziendale.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3337560"/>
            <a:ext cx="265176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035040" y="339242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06D6A0"/>
                </a:solidFill>
              </a:rPr>
              <a:t>_manutenzione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35040" y="36484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Accesso remoto fornitore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35040" y="395935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VPN o tool gestito. Mai credenziali condivise. Log di ogni accesso.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754880"/>
            <a:ext cx="8412480" cy="0"/>
          </a:xfrm>
          <a:prstGeom prst="line">
            <a:avLst/>
          </a:prstGeom>
          <a:noFill/>
          <a:ln w="63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365760" y="491947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406640" y="49560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·KAPLET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49640" y="4956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778240" y="4974336"/>
            <a:ext cx="201168" cy="0"/>
          </a:xfrm>
          <a:prstGeom prst="line">
            <a:avLst/>
          </a:prstGeom>
          <a:noFill/>
          <a:ln w="190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3DED7A"/>
                </a:solidFill>
              </a:rPr>
              <a:t>_verticale 03 / audio video — controllo sala &amp; infrastruttura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Controllo sala,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cablaggio &amp; infrastruttura AV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810512"/>
            <a:ext cx="40690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8562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06D6A0"/>
                </a:solidFill>
              </a:rPr>
              <a:t>_sistemi di controllo sala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2176272"/>
            <a:ext cx="0" cy="402336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30352" y="21945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Crestron / AMX / Extron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23957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</a:rPr>
              <a:t>Controller sala con interfaccia web: credenziali default e firmware non aggiornato sono i gap più frequenti. Accesso admin = controllo completo di proiettori, schermi, audio, luci, climate.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0" cy="402336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30352" y="28529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Q-SYS / Biamp / Dante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0352" y="30540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</a:rPr>
              <a:t>Piattaforme audio IP (Dante) spesso in rete piatta. Intercettazione audio di sala riunioni in ambiente non segmentato è un rischio reale e documentato.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493008"/>
            <a:ext cx="0" cy="402336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30352" y="35112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KVM remoto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0352" y="37124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</a:rPr>
              <a:t>Switch KVM e console server esposti senza VPN: accesso diretto ai server fisici da remoto. Spesso installati e dimenticati.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151376"/>
            <a:ext cx="0" cy="402336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30352" y="41696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Display / Videowall IP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" y="43708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</a:rPr>
              <a:t>Display Samsung, LG, Philips con Android e porta di gestione aperta. Firmware mai aggiornato. Vettore di attacco laterale verso la rete.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1764792"/>
            <a:ext cx="0" cy="301752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4663440" y="1810512"/>
            <a:ext cx="41148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663440" y="18562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8888"/>
                </a:solidFill>
              </a:rPr>
              <a:t>_cablaggio strutturato &amp; infrastruttura fisica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2176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Perché NIS 2 tocca anche il cablaggio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63440" y="24871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NIS 2 richiede protezione dell'ambiente fisico dei sistemi informativi (Art. 24). Un'infrastruttura di cablaggio non documentata e non protetta fisicamente è un gap normativo.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154680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4663440" y="32004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Documentazione as-built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33832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Assenza di planimetrie aggiornate = impossibile isolare un segmento in caso di incidente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3538728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4663440" y="35844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Armadi rack fisicamente aperti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3440" y="37673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Accesso fisico a switch e patch panel = accesso alla rete. Chiusura a chiave obbligatoria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922776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663440" y="39684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Porte di rete attive non mappate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63440" y="415137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Porte switch attive senza NAC o documentazione = potenziale accesso non autorizzato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4306824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663440" y="43525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Fibra ottica non schermata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63440" y="45354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In ambienti critici, la fibra va protetta fisicamente. Intercettazione ottica è possibile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754880"/>
            <a:ext cx="8412480" cy="0"/>
          </a:xfrm>
          <a:prstGeom prst="line">
            <a:avLst/>
          </a:prstGeom>
          <a:noFill/>
          <a:ln w="63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7406640" y="49560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·KAPLET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49640" y="4956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B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778240" y="4974336"/>
            <a:ext cx="201168" cy="0"/>
          </a:xfrm>
          <a:prstGeom prst="line">
            <a:avLst/>
          </a:prstGeom>
          <a:noFill/>
          <a:ln w="190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3DED7A"/>
                </a:solidFill>
              </a:rPr>
              <a:t>_il percorso – come lo facciamo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 · Build · Manage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7498080" cy="0"/>
          </a:xfrm>
          <a:prstGeom prst="line">
            <a:avLst/>
          </a:prstGeom>
          <a:noFill/>
          <a:ln w="1270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981200" y="2240280"/>
            <a:ext cx="182880" cy="182880"/>
          </a:xfrm>
          <a:prstGeom prst="ellipse">
            <a:avLst/>
          </a:prstGeom>
          <a:solidFill>
            <a:srgbClr val="3DED7A"/>
          </a:solidFill>
          <a:ln w="1270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92480" y="1572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480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ED7A"/>
                </a:solidFill>
              </a:rPr>
              <a:t>0 – 4 settimane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72640" y="2423160"/>
            <a:ext cx="0" cy="320040"/>
          </a:xfrm>
          <a:prstGeom prst="line">
            <a:avLst/>
          </a:prstGeom>
          <a:noFill/>
          <a:ln w="1016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169126" y="2741240"/>
            <a:ext cx="180702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Gap analysis 3 verticali</a:t>
            </a:r>
            <a:endParaRPr lang="en-US" sz="1050" dirty="0"/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Inventario asset completo</a:t>
            </a:r>
            <a:endParaRPr lang="en-US" sz="1050" dirty="0"/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Classificazione NIS 2 (ACN)</a:t>
            </a:r>
            <a:endParaRPr lang="en-US" sz="1050" dirty="0"/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Risk assessment Art. 24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2240280"/>
            <a:ext cx="182880" cy="182880"/>
          </a:xfrm>
          <a:prstGeom prst="ellipse">
            <a:avLst/>
          </a:prstGeom>
          <a:solidFill>
            <a:srgbClr val="3DED7A"/>
          </a:solidFill>
          <a:ln w="1270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291840" y="1572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ED7A"/>
                </a:solidFill>
              </a:rPr>
              <a:t>1 – 6 mesi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2423160"/>
            <a:ext cx="0" cy="320040"/>
          </a:xfrm>
          <a:prstGeom prst="line">
            <a:avLst/>
          </a:prstGeom>
          <a:noFill/>
          <a:ln w="1016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640619" y="2711195"/>
            <a:ext cx="186276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NGFW · NAC · VLAN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Hardening VMS · ACS · AV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SIEM e log centralizzati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MFA su tutti i sistemi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79920" y="2240280"/>
            <a:ext cx="182880" cy="182880"/>
          </a:xfrm>
          <a:prstGeom prst="ellipse">
            <a:avLst/>
          </a:prstGeom>
          <a:solidFill>
            <a:srgbClr val="3DED7A"/>
          </a:solidFill>
          <a:ln w="1270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791200" y="1572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91200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ED7A"/>
                </a:solidFill>
              </a:rPr>
              <a:t>Continuativo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71360" y="2423160"/>
            <a:ext cx="0" cy="320040"/>
          </a:xfrm>
          <a:prstGeom prst="line">
            <a:avLst/>
          </a:prstGeom>
          <a:noFill/>
          <a:ln w="1016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994546" y="2711195"/>
            <a:ext cx="215362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DOC monitoring 24/7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Notifica CSIRT automatizzata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Vulnerability scanning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888888"/>
                </a:solidFill>
              </a:rPr>
              <a:t>Report direzionale NIS 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91947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7406640" y="49560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·KAPLET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49640" y="4956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778240" y="4974336"/>
            <a:ext cx="201168" cy="0"/>
          </a:xfrm>
          <a:prstGeom prst="line">
            <a:avLst/>
          </a:prstGeom>
          <a:noFill/>
          <a:ln w="190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3DED7A"/>
                </a:solidFill>
              </a:rPr>
              <a:t>_opportunità di business per Kaplet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2 è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un'opportunità.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265176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9293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3DED7A"/>
                </a:solidFill>
              </a:rPr>
              <a:t>_assess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1854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€ 800 – 3.000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NIS 2 Gap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77063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Report compliance + roadmap per i 3 verticali. Entry point per ogni cliente.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874520"/>
            <a:ext cx="265176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200400" y="19293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3DED7A"/>
                </a:solidFill>
              </a:rPr>
              <a:t>_build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0" y="21854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€ 2.000 – 20.000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5146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Networking &amp; Firewall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77063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NGFW, NAC, VLAN segmentazione. Upsell su clienti esistenti.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874520"/>
            <a:ext cx="265176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035040" y="19293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3DED7A"/>
                </a:solidFill>
              </a:rPr>
              <a:t>_build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0" y="21854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€ 500 – 8.000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25146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VMS &amp; ACS Hardening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277063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Credenziali, firmware, VLAN, log. Su impianti Axis, Avigilon, Bosch, Pelco.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265176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65760" y="339242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3DED7A"/>
                </a:solidFill>
              </a:rPr>
              <a:t>_build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6484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€ 500 – 3.000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977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AV Security 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23367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Audit AV, VLAN AV, hardening VC e signage. Verticale spesso ignorato.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337560"/>
            <a:ext cx="265176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3200400" y="339242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3DED7A"/>
                </a:solidFill>
              </a:rPr>
              <a:t>_manage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0" y="36484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MRR ricorrente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3977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SIEM as a Service (DOC)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423367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Log management + alerting dal Digital Operation Center. Alto valore.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3337560"/>
            <a:ext cx="265176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035040" y="339242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3DED7A"/>
                </a:solidFill>
              </a:rPr>
              <a:t>_manage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0" y="36484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MRR ricorrente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35040" y="3977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Managed Security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423367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Monitoring 24/7 rete, VMS, ACS, AV. Fidelizzazione a lungo termine.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91947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7406640" y="49560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·KAPLET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49640" y="4956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778240" y="4974336"/>
            <a:ext cx="201168" cy="0"/>
          </a:xfrm>
          <a:prstGeom prst="line">
            <a:avLst/>
          </a:prstGeom>
          <a:noFill/>
          <a:ln w="190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3DED7A"/>
                </a:solidFill>
              </a:rPr>
              <a:t>_scadenze – il tempo stringe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41605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date </a:t>
            </a:r>
            <a:r>
              <a:rPr lang="en-US" sz="34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</a:t>
            </a:r>
            <a:r>
              <a:rPr lang="en-US" sz="3400" dirty="0"/>
              <a:t> </a:t>
            </a: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non puoi ignorare.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80467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82880" cy="18288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0" cy="50292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-274320" y="34747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88888"/>
                </a:solidFill>
              </a:rPr>
              <a:t>OTT 2024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-274320" y="37124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vigore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-274320" y="398678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</a:rPr>
              <a:t>D.Lgs. 138/2024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</a:rPr>
              <a:t>recepimento italiano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0" y="2743200"/>
            <a:ext cx="182880" cy="18288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286000" y="2330414"/>
            <a:ext cx="0" cy="412786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463040" y="13898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88888"/>
                </a:solidFill>
              </a:rPr>
              <a:t>FEB 2025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63040" y="1627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Registrazione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463040" y="190195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</a:rPr>
              <a:t>Piattaforma ACN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</a:rPr>
              <a:t>scaduta (rinnovabile)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31920" y="2743200"/>
            <a:ext cx="182880" cy="18288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023360" y="2926080"/>
            <a:ext cx="0" cy="50292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200400" y="34747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166"/>
                </a:solidFill>
              </a:rPr>
              <a:t>APR 2025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0" y="37124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Misure ACN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00400" y="398678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</a:rPr>
              <a:t>Det. 164179/2025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</a:rPr>
              <a:t>37 / 43 misure obbligatorie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2743200"/>
            <a:ext cx="182880" cy="18288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5760720" y="2330414"/>
            <a:ext cx="0" cy="412786"/>
          </a:xfrm>
          <a:prstGeom prst="line">
            <a:avLst/>
          </a:prstGeom>
          <a:noFill/>
          <a:ln w="1016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937760" y="13898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444"/>
                </a:solidFill>
              </a:rPr>
              <a:t>1 GEN 2026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1627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Notifica incidenti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37760" y="190195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</a:rPr>
              <a:t>Pre-notifica CSIRT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</a:rPr>
              <a:t>entro 24h OBBLIGATORIA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55280" y="2743200"/>
            <a:ext cx="182880" cy="18288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8046720" y="2926080"/>
            <a:ext cx="0" cy="502920"/>
          </a:xfrm>
          <a:prstGeom prst="line">
            <a:avLst/>
          </a:prstGeom>
          <a:noFill/>
          <a:ln w="1016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7223760" y="34747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444"/>
                </a:solidFill>
              </a:rPr>
              <a:t>OTT 2026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23760" y="37124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Piena conformità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223760" y="398678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</a:rPr>
              <a:t>Tutti gli obblighi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</a:rPr>
              <a:t>tecnici Art. 24 attivi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72338" y="2534195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ED7A"/>
                </a:solidFill>
              </a:rPr>
              <a:t>SEI QUI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4592901"/>
            <a:ext cx="8412480" cy="0"/>
          </a:xfrm>
          <a:prstGeom prst="line">
            <a:avLst/>
          </a:prstGeom>
          <a:noFill/>
          <a:ln w="635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365760" y="4673891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444"/>
                </a:solidFill>
              </a:rPr>
              <a:t>⚠  Dal 1° gennaio 2026 ogni incidente significativo deve essere pre-notificato al CSIRT Italia entro 24 ore. Senza sistemi di log e una procedura IRP documentata, questo obbligo è impossibile da rispettare.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91947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7406640" y="49560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·KAPLET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49640" y="4956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778240" y="4974336"/>
            <a:ext cx="201168" cy="0"/>
          </a:xfrm>
          <a:prstGeom prst="line">
            <a:avLst/>
          </a:prstGeom>
          <a:noFill/>
          <a:ln w="190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190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5143500"/>
            <a:ext cx="9144000" cy="0"/>
          </a:xfrm>
          <a:prstGeom prst="line">
            <a:avLst/>
          </a:prstGeom>
          <a:noFill/>
          <a:ln w="190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3DED7A"/>
                </a:solidFill>
              </a:rPr>
              <a:t>_cosa fare adesso — i 3 passi concreti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Inizia</a:t>
            </a:r>
            <a:endParaRPr lang="en-US" sz="5800" dirty="0"/>
          </a:p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oggi.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365760" y="24505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</a:rPr>
              <a:t>OTT 2026 è già domani.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</a:rPr>
              <a:t>La notifica CSIRT entro 24h è obbligatoria.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</a:rPr>
              <a:t>Chi non ha ancora un IRP e un sistema di log è già fuori conformità.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663440" y="850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ED7A"/>
                </a:solidFill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93792" y="850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Assessment NIS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93792" y="12161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Fotografia completa sui 3 verticali in 15 minuti.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Report formale da portare al CDA.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Costo: €800 – 3.000.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67128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166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93792" y="2240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Sopralluogo tecnico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93792" y="2606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Il team Kaplet verifica sul campo i gap critici.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Proposta tecnica ed economica entro 5 giorni lavorativi.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557016"/>
            <a:ext cx="4114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66344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D6A0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93792" y="3630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Percorso Design · Build · Manage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93792" y="39959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Dal gap alla conformità NIS 2, gestita da Kaplet.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Monitoring continuativo dal DOC di Cesena.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·KAPLET  –  Cesena · Milano  –  kaplet.it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06640" y="49560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ED7A"/>
                </a:solidFill>
              </a:rPr>
              <a:t>·KAPLET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49640" y="4956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778240" y="4974336"/>
            <a:ext cx="201168" cy="0"/>
          </a:xfrm>
          <a:prstGeom prst="line">
            <a:avLst/>
          </a:prstGeom>
          <a:noFill/>
          <a:ln w="190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190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5143500"/>
            <a:ext cx="9144000" cy="0"/>
          </a:xfrm>
          <a:prstGeom prst="line">
            <a:avLst/>
          </a:prstGeom>
          <a:noFill/>
          <a:ln w="19050">
            <a:solidFill>
              <a:srgbClr val="3DED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Iniziamo</a:t>
            </a:r>
            <a:endParaRPr lang="en-US" sz="7800" dirty="0"/>
          </a:p>
          <a:p>
            <a:pPr marL="0" indent="0">
              <a:buNone/>
            </a:pPr>
            <a:r>
              <a:rPr lang="en-US" sz="7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dal tuo</a:t>
            </a:r>
            <a:endParaRPr lang="en-US" sz="7800" dirty="0"/>
          </a:p>
          <a:p>
            <a:pPr marL="0" indent="0">
              <a:buNone/>
            </a:pPr>
            <a:r>
              <a:rPr lang="en-US" sz="7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spazio.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621792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888888"/>
                </a:solidFill>
              </a:rPr>
              <a:t>Usa lo strumento di assessment allegato per profilare ogni cliente sui 3 </a:t>
            </a:r>
            <a:r>
              <a:rPr lang="en-US" sz="1250" dirty="0" err="1">
                <a:solidFill>
                  <a:srgbClr val="888888"/>
                </a:solidFill>
              </a:rPr>
              <a:t>verticali</a:t>
            </a:r>
            <a:r>
              <a:rPr lang="en-US" sz="1250" dirty="0">
                <a:solidFill>
                  <a:srgbClr val="888888"/>
                </a:solidFill>
              </a:rPr>
              <a:t>: </a:t>
            </a:r>
            <a:r>
              <a:rPr lang="en-US" sz="1250" u="sng" dirty="0">
                <a:solidFill>
                  <a:srgbClr val="888888"/>
                </a:solidFill>
              </a:rPr>
              <a:t>https://nis2.kaplet.it</a:t>
            </a:r>
            <a:endParaRPr lang="en-US" sz="1250" u="sng" dirty="0"/>
          </a:p>
        </p:txBody>
      </p:sp>
      <p:sp>
        <p:nvSpPr>
          <p:cNvPr id="6" name="Text 4"/>
          <p:cNvSpPr/>
          <p:nvPr/>
        </p:nvSpPr>
        <p:spPr>
          <a:xfrm>
            <a:off x="7132320" y="228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DED7A"/>
                </a:solidFill>
              </a:rPr>
              <a:t>·KAPLET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0" y="4526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3333"/>
                </a:solidFill>
              </a:rPr>
              <a:t>Cesena – Milano</a:t>
            </a: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333333"/>
                </a:solidFill>
              </a:rPr>
              <a:t>kaplet.it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1810</Words>
  <Application>Microsoft Macintosh PowerPoint</Application>
  <PresentationFormat>Presentazione su schermo (16:9)</PresentationFormat>
  <Paragraphs>322</Paragraphs>
  <Slides>14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7" baseType="lpstr">
      <vt:lpstr>Arial</vt:lpstr>
      <vt:lpstr>Calibri Light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·KAPLET – NIS 2 &amp; Digital Spaces Security</dc:title>
  <dc:subject>PptxGenJS Presentation</dc:subject>
  <dc:creator>PptxGenJS</dc:creator>
  <cp:lastModifiedBy>Giuseppe Tannurella</cp:lastModifiedBy>
  <cp:revision>3</cp:revision>
  <dcterms:created xsi:type="dcterms:W3CDTF">2026-04-02T21:32:27Z</dcterms:created>
  <dcterms:modified xsi:type="dcterms:W3CDTF">2026-04-03T10:28:14Z</dcterms:modified>
</cp:coreProperties>
</file>